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Neo4j Ontology for Enterprise KPI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Executive architecture briefing for CTOs and architects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7680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65960"/>
            <a:ext cx="6766560" cy="11887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32323"/>
                </a:solidFill>
                <a:latin typeface="Calibri"/>
              </a:defRPr>
            </a:pPr>
            <a:r>
              <a:t>• Explain why Neo4j is the right semantic layer for KPI/NL2SQL chatbot use cases.</a:t>
            </a:r>
          </a:p>
          <a:p>
            <a:pPr>
              <a:spcAft>
                <a:spcPts val="300"/>
              </a:spcAft>
              <a:defRPr sz="1400">
                <a:solidFill>
                  <a:srgbClr val="232323"/>
                </a:solidFill>
                <a:latin typeface="Calibri"/>
              </a:defRPr>
            </a:pPr>
            <a:r>
              <a:t>• Show how ontology prevents LLM guessing by supplying governed business meaning before SQL is generated.</a:t>
            </a:r>
          </a:p>
          <a:p>
            <a:pPr>
              <a:spcAft>
                <a:spcPts val="300"/>
              </a:spcAft>
              <a:defRPr sz="1400">
                <a:solidFill>
                  <a:srgbClr val="232323"/>
                </a:solidFill>
                <a:latin typeface="Calibri"/>
              </a:defRPr>
            </a:pPr>
            <a:r>
              <a:t>• Define how this can scale, be maintained, and be governed in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417320"/>
            <a:ext cx="3566160" cy="2971800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0078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Core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221992"/>
            <a:ext cx="278892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Snowflake stores the data.
Neo4j stores the business meaning.
The LLM only generates SQL from approved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B80000"/>
                </a:solidFill>
                <a:latin typeface="Calibri"/>
              </a:rPr>
              <a:t>This is not a generic chatbot. It is a governed, auditable, ontology-driven SQL generation pattern for enterprise workforce analytics.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What Is Ontology?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A business meaning layer between human language and enterprise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Plain-English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2788920" cy="2240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• An ontology is a structured map of how the business thinks about its data.</a:t>
            </a:r>
          </a:p>
          <a:p>
            <a:pPr>
              <a:spcAft>
                <a:spcPts val="3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• It defines terms, KPI formulas, valid relationships, hierarchy, and security scope.</a:t>
            </a:r>
          </a:p>
          <a:p>
            <a:pPr>
              <a:spcAft>
                <a:spcPts val="300"/>
              </a:spcAft>
              <a:defRPr sz="1300">
                <a:solidFill>
                  <a:srgbClr val="232323"/>
                </a:solidFill>
                <a:latin typeface="Calibri"/>
              </a:defRPr>
            </a:pPr>
            <a:r>
              <a:t>• It helps the AI understand meaning before generating 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429000" cy="3566160"/>
          </a:xfrm>
          <a:prstGeom prst="roundRect">
            <a:avLst/>
          </a:prstGeom>
          <a:solidFill>
            <a:srgbClr val="FFEFDB"/>
          </a:solidFill>
          <a:ln w="12700">
            <a:solidFill>
              <a:srgbClr val="B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4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BF6600"/>
                </a:solidFill>
                <a:latin typeface="Calibri"/>
              </a:rPr>
              <a:t>Filing Cabinet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12848"/>
            <a:ext cx="27889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 i="0">
                <a:solidFill>
                  <a:srgbClr val="BF6600"/>
                </a:solidFill>
                <a:latin typeface="Calibri"/>
              </a:rPr>
              <a:t>Snowflake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246120"/>
            <a:ext cx="2880360" cy="11430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Actual employee records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Punches and hours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Termination dates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Station/customer facts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246120" cy="3566160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9164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Business Rulebook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12848"/>
            <a:ext cx="24231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1F4E79"/>
                </a:solidFill>
                <a:latin typeface="Calibri"/>
              </a:rPr>
              <a:t>Neo4j
Ontology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246120"/>
            <a:ext cx="2724912" cy="11430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KPI definitions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Business rules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Join paths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Org hierarchy &amp;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Why Neo4j?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The problem is a connected business logic problem, not just a document retrieval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201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840480"/>
                <a:gridCol w="5303520"/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Why Neo4j fits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KPI recipes have ordered steps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Attrition is not one formula; it has components and dependencies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Graph naturally models KPI → steps → rules → columns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Terms are context-dependent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REG can mean Regular Employee or Regular Hours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Contextual relationships make disambiguation explicit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Org hierarchy is multi-level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Region → Station → Customer → Contract filtering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Graph traversal handles variable-depth hierarchy cleanly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Joins must not be guessed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Wrong joins create wrong executive numbers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Approved join paths are stored as first-class relationships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Security is relationship-based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Managers see only authorized stations/contracts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User → region/station/customer/contract scope is graph-native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 i="0">
                <a:solidFill>
                  <a:srgbClr val="B80000"/>
                </a:solidFill>
                <a:latin typeface="Calibri"/>
              </a:rPr>
              <a:t>Decision principle: use Neo4j where relationships, hierarchy, rules, and traceability are the core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How Neo4j Helps This KPI Chatbot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It gives the LLM a governed business map before SQL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057400" cy="3200400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828800"/>
            <a:ext cx="2103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1600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Resolve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 i="0">
                <a:solidFill>
                  <a:srgbClr val="232323"/>
                </a:solidFill>
                <a:latin typeface="Calibri"/>
              </a:rPr>
              <a:t>HC = Headcount
ATL = Atlanta
DL = Delta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3154680"/>
            <a:ext cx="246888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39" y="1554480"/>
            <a:ext cx="2057400" cy="3200400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799" y="173736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1828800"/>
            <a:ext cx="2103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2331720"/>
            <a:ext cx="1600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Select KPI recipe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39" y="297180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 i="0">
                <a:solidFill>
                  <a:srgbClr val="232323"/>
                </a:solidFill>
                <a:latin typeface="Calibri"/>
              </a:rPr>
              <a:t>Attrition, Headcount, Overtime, Contract Hierarchy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92040" y="3154680"/>
            <a:ext cx="246887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66359" y="1554480"/>
            <a:ext cx="2057400" cy="3200400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3520" y="173736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5816" y="1828800"/>
            <a:ext cx="2103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331720"/>
            <a:ext cx="1600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Return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297180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 i="0">
                <a:solidFill>
                  <a:srgbClr val="232323"/>
                </a:solidFill>
                <a:latin typeface="Calibri"/>
              </a:rPr>
              <a:t>Hourly vs salaried
28-day no-punch
Annualization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23759" y="3154680"/>
            <a:ext cx="246889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79" y="1554480"/>
            <a:ext cx="2057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35240" y="173736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1828800"/>
            <a:ext cx="2103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331720"/>
            <a:ext cx="1600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Map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97180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 i="0">
                <a:solidFill>
                  <a:srgbClr val="232323"/>
                </a:solidFill>
                <a:latin typeface="Calibri"/>
              </a:rPr>
              <a:t>Approved Snowflake views, columns, joins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55480" y="3154680"/>
            <a:ext cx="246887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29800" y="1554480"/>
            <a:ext cx="2057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66960" y="1737360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6" y="1828800"/>
            <a:ext cx="2103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331720"/>
            <a:ext cx="1600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Enforce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971800"/>
            <a:ext cx="16002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 i="0">
                <a:solidFill>
                  <a:srgbClr val="232323"/>
                </a:solidFill>
                <a:latin typeface="Calibri"/>
              </a:rPr>
              <a:t>User can only see authorized stations/contracts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54480" y="5166360"/>
            <a:ext cx="90525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5340096"/>
            <a:ext cx="8686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Result: LLM is constrained by approved context; it does not invent formulas, joins, filters, or security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Do We Have Options Apart from Neo4j?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Yes — but the fit depends on whether the problem is retrieval, semantic modeling, or platform governance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61872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86200"/>
                <a:gridCol w="5074920"/>
              </a:tblGrid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Limitation for this use case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Prompt-only design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Fast prototype, few KPIs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Does not scale; formulas and rules become fragile in prompt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Vector DB / RAG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Policy documents and unstructured knowledge search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Poor fit for deterministic KPI formulas and exact joins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Relational metadata tables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Simple mappings and fixed logic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Harder for variable-depth hierarchy and relationship traversal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Microsoft Fabric IQ / Foundry tools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Microsoft-native data estate and agent integration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Useful platform layer; ontology/computation graph still needs careful modeling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Palantir Foundry Ontology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Large-scale proprietary operational ontology platform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Strong but heavy platform commitment; less flexible for lightweight custom NL2SQL layer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Neo4j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Connected business rules, hierarchy, disambiguation, auditability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Adds a service to operate; needs governance and sync process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How the Ontology Is Built on Neo4j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Convert business meaning into connected, queryable objects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2514600" cy="3703320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Business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31720"/>
            <a:ext cx="2029968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Terms: HC, OT, ATL, DL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Synonyms and abbreviations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Context/disambiguation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160520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80" b="1" i="0">
                <a:solidFill>
                  <a:srgbClr val="1F4E79"/>
                </a:solidFill>
                <a:latin typeface="Calibri"/>
              </a:rPr>
              <a:t>Stored as governed relationships in Neo4j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371600"/>
            <a:ext cx="2514600" cy="3703320"/>
          </a:xfrm>
          <a:prstGeom prst="roundRect">
            <a:avLst/>
          </a:prstGeom>
          <a:solidFill>
            <a:srgbClr val="E8F6EC"/>
          </a:solidFill>
          <a:ln w="12700">
            <a:solidFill>
              <a:srgbClr val="3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664208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36824A"/>
                </a:solidFill>
                <a:latin typeface="Calibri"/>
              </a:rPr>
              <a:t>Data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331720"/>
            <a:ext cx="2029968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Snowflake views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Columns and usage type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Valid join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60520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80" b="1" i="0">
                <a:solidFill>
                  <a:srgbClr val="36824A"/>
                </a:solidFill>
                <a:latin typeface="Calibri"/>
              </a:rPr>
              <a:t>Stored as governed relationships in Neo4j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514600" cy="3703320"/>
          </a:xfrm>
          <a:prstGeom prst="roundRect">
            <a:avLst/>
          </a:prstGeom>
          <a:solidFill>
            <a:srgbClr val="FFEFDB"/>
          </a:solidFill>
          <a:ln w="12700">
            <a:solidFill>
              <a:srgbClr val="B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664208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BF6600"/>
                </a:solidFill>
                <a:latin typeface="Calibri"/>
              </a:rPr>
              <a:t>KPI Recipe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331720"/>
            <a:ext cx="2029968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Approved formula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Step-by-step logic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Required filters and output 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80" b="1" i="0">
                <a:solidFill>
                  <a:srgbClr val="BF6600"/>
                </a:solidFill>
                <a:latin typeface="Calibri"/>
              </a:rPr>
              <a:t>Stored as governed relationships in Neo4j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371600"/>
            <a:ext cx="2514600" cy="3703320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664208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7030A0"/>
                </a:solidFill>
                <a:latin typeface="Calibri"/>
              </a:rPr>
              <a:t>Security &amp; 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331720"/>
            <a:ext cx="2029968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Legal entity → Region → Station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Customer → Contract / LOS</a:t>
            </a:r>
          </a:p>
          <a:p>
            <a:pPr>
              <a:spcAft>
                <a:spcPts val="300"/>
              </a:spcAft>
              <a:defRPr sz="1180">
                <a:solidFill>
                  <a:srgbClr val="232323"/>
                </a:solidFill>
                <a:latin typeface="Calibri"/>
              </a:defRPr>
            </a:pPr>
            <a:r>
              <a:t>• User access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160520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80" b="1" i="0">
                <a:solidFill>
                  <a:srgbClr val="7030A0"/>
                </a:solidFill>
                <a:latin typeface="Calibri"/>
              </a:rPr>
              <a:t>Stored as governed relationships in Neo4j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21808"/>
            <a:ext cx="10515600" cy="475488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B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58968"/>
            <a:ext cx="103327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20" b="1" i="0">
                <a:solidFill>
                  <a:srgbClr val="B80000"/>
                </a:solidFill>
                <a:latin typeface="Calibri"/>
              </a:rPr>
              <a:t>Important: actual employee, payroll, punch, and hours data remain in Snowflake. Neo4j stores interpretation and rules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Execution Flow — How It Is Queried at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From question to validated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874519"/>
            <a:ext cx="1234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232323"/>
                </a:solidFill>
                <a:latin typeface="Calibri"/>
              </a:rPr>
              <a:t>User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“Attrition at ATL last month”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2816352"/>
            <a:ext cx="192024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64792" y="1874519"/>
            <a:ext cx="1234440" cy="1874519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2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1F4E79"/>
                </a:solidFill>
                <a:latin typeface="Calibri"/>
              </a:rPr>
              <a:t>Intent Extractor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7944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Find KPI, station, period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2816352"/>
            <a:ext cx="192024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09544" y="1874519"/>
            <a:ext cx="1234440" cy="1874519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1F4E79"/>
                </a:solidFill>
                <a:latin typeface="Calibri"/>
              </a:rPr>
              <a:t>Neo4j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Fetch recipe, terms, rules, joins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43984" y="2816352"/>
            <a:ext cx="192024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54296" y="1874519"/>
            <a:ext cx="1234440" cy="1874519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1F4E79"/>
                </a:solidFill>
                <a:latin typeface="Calibri"/>
              </a:rPr>
              <a:t>Context 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Package only relevant context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88736" y="2816352"/>
            <a:ext cx="192024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99048" y="1874519"/>
            <a:ext cx="1234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232323"/>
                </a:solidFill>
                <a:latin typeface="Calibri"/>
              </a:rPr>
              <a:t>LLM SQL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Generate Snowflake SQL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33488" y="2816352"/>
            <a:ext cx="192024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43800" y="1874519"/>
            <a:ext cx="1234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232323"/>
                </a:solidFill>
                <a:latin typeface="Calibri"/>
              </a:rPr>
              <a:t>SQL Validator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Check safety, schema, scope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78240" y="2816352"/>
            <a:ext cx="192024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88552" y="1874519"/>
            <a:ext cx="1234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2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232323"/>
                </a:solidFill>
                <a:latin typeface="Calibri"/>
              </a:rPr>
              <a:t>Snowflake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4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Execute read-only query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22992" y="2816352"/>
            <a:ext cx="192024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433304" y="1874519"/>
            <a:ext cx="1234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24744" y="2084831"/>
            <a:ext cx="1051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 i="0">
                <a:solidFill>
                  <a:srgbClr val="232323"/>
                </a:solidFill>
                <a:latin typeface="Calibri"/>
              </a:rPr>
              <a:t>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6" y="2788920"/>
            <a:ext cx="1097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5F5F5F"/>
                </a:solidFill>
                <a:latin typeface="Calibri"/>
              </a:rPr>
              <a:t>Return KPI + explanation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4480560"/>
            <a:ext cx="8595360" cy="640080"/>
          </a:xfrm>
          <a:prstGeom prst="roundRect">
            <a:avLst/>
          </a:prstGeom>
          <a:solidFill>
            <a:srgbClr val="E2F6F9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4663440"/>
            <a:ext cx="8229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007A87"/>
                </a:solidFill>
                <a:latin typeface="Calibri"/>
              </a:rPr>
              <a:t>Only the approved context goes to the LLM. SQL is blocked if it uses unauthorized tables, columns, filters, or user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How This Solution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Scale along three dimensions: ontology, runtime, and governance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206240"/>
                <a:gridCol w="4892040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Scale Area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Design Choice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Calibri"/>
                        </a:rPr>
                        <a:t>Why it scales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Ontology growth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Add terms, KPIs, rules, and hierarchy as graph data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New KPI does not require rewriting the entire prompt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Runtime traffic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FastAPI workers + cache + Azure App Service / AKS autoscale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Horizontal scaling for concurrent users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Neo4j access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Indexed term/KPI lookup + cached dictionaries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Sub-second semantic lookup for most requests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LLM capacity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Model deployment with controlled throughput and token budgets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LLM is called only after context is minimized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Snowflake cost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Read-only warehouse, result cache, timeouts, query limits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Avoids uncontrolled ad hoc SQL execution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Golden tests, approvals, versioning, audit logs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32323"/>
                          </a:solidFill>
                          <a:latin typeface="Calibri"/>
                        </a:rPr>
                        <a:t>Business changes are controlled and traceable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Benefits of the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Why this is better for enterprise chatbot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84248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80" b="0" i="0">
                <a:solidFill>
                  <a:srgbClr val="232323"/>
                </a:solidFill>
                <a:latin typeface="Calibri"/>
              </a:rPr>
              <a:t>Approved formulas, rules, and joins reduce hallucination.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81912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B80000"/>
                </a:solidFill>
                <a:latin typeface="Calibri"/>
              </a:rP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84248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80" b="0" i="0">
                <a:solidFill>
                  <a:srgbClr val="232323"/>
                </a:solidFill>
                <a:latin typeface="Calibri"/>
              </a:rPr>
              <a:t>Trace each answer back to term, KPI, rule, and SQL.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581912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984248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80" b="0" i="0">
                <a:solidFill>
                  <a:srgbClr val="232323"/>
                </a:solidFill>
                <a:latin typeface="Calibri"/>
              </a:rPr>
              <a:t>User station/customer/contract scope enforced before Snowflake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47872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B80000"/>
                </a:solidFill>
                <a:latin typeface="Calibri"/>
              </a:rPr>
              <a:t>Maintainability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50208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80" b="0" i="0">
                <a:solidFill>
                  <a:srgbClr val="232323"/>
                </a:solidFill>
                <a:latin typeface="Calibri"/>
              </a:rPr>
              <a:t>Add new terms and KPIs as ontology updates, not massive prompt rewrites.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8328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547872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50208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80" b="0" i="0">
                <a:solidFill>
                  <a:srgbClr val="232323"/>
                </a:solidFill>
                <a:latin typeface="Calibri"/>
              </a:rPr>
              <a:t>Supports simple, complex, comparative, and cross-domain KPI questions.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38328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9" y="3547872"/>
            <a:ext cx="2880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B80000"/>
                </a:solidFill>
                <a:latin typeface="Calibri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3950208"/>
            <a:ext cx="2788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80" b="0" i="0">
                <a:solidFill>
                  <a:srgbClr val="232323"/>
                </a:solidFill>
                <a:latin typeface="Calibri"/>
              </a:rPr>
              <a:t>Golden tests and versioned recipes create operational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Improvement from Current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From prompt-heavy SQL generation to ontology-governed SQL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297680"/>
                <a:gridCol w="4983480"/>
              </a:tblGrid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FFFFFF"/>
                          </a:solidFill>
                          <a:latin typeface="Calibri"/>
                        </a:rPr>
                        <a:t>Current / Risk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1">
                          <a:solidFill>
                            <a:srgbClr val="FFFFFF"/>
                          </a:solidFill>
                          <a:latin typeface="Calibri"/>
                        </a:rPr>
                        <a:t>Ontology-Driven Improvement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Business logic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Rules live in prompt or code and are hard to govern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Rules live in Neo4j and are retrievable, versioned, and auditable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LLM behavior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LLM may infer formulas, joins, or filters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LLM receives approved context only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KPI changes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Prompt/code updates required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Graph data update + regression test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Ambiguity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Terms like REG or DL can be misread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Context-based disambiguation before SQL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Can be added late in SQL or application logic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Security scope is part of pre-execution validation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Hard to explain why answer was produced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232323"/>
                          </a:solidFill>
                          <a:latin typeface="Calibri"/>
                        </a:rPr>
                        <a:t>Traceable path: question → ontology → SQL → result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How Easy Is This to Maintain?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Maintain business logic as governed ontology assets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3520440"/>
          </a:xfrm>
          <a:prstGeom prst="roundRect">
            <a:avLst/>
          </a:prstGeom>
          <a:solidFill>
            <a:srgbClr val="E2EF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What changes often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148840" cy="17373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New station/customer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New synonym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KPI formula revision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New KPI domain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Schema column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417320"/>
            <a:ext cx="2743200" cy="3520440"/>
          </a:xfrm>
          <a:prstGeom prst="roundRect">
            <a:avLst/>
          </a:prstGeom>
          <a:solidFill>
            <a:srgbClr val="E8F6EC"/>
          </a:solidFill>
          <a:ln w="12700">
            <a:solidFill>
              <a:srgbClr val="368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69164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36824A"/>
                </a:solidFill>
                <a:latin typeface="Calibri"/>
              </a:rPr>
              <a:t>How it is updated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240280"/>
            <a:ext cx="2148840" cy="17373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Admin UI or approved data load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Automated schema/term sync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Versioned recipe update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Golden tests before activation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Change approval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417320"/>
            <a:ext cx="4343400" cy="35204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B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691640"/>
            <a:ext cx="3794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>
                <a:solidFill>
                  <a:srgbClr val="B80000"/>
                </a:solidFill>
                <a:latin typeface="Calibri"/>
              </a:rPr>
              <a:t>Controls that protect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40280"/>
            <a:ext cx="3611880" cy="17373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No KPI is activated without test cases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Historical formulas are preserved with valid dates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SQL validator blocks unauthorized objects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Audit logs show who changed what and when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Calibri"/>
              </a:defRPr>
            </a:pPr>
            <a:r>
              <a:t>• Fallback behavior if ontology lookup fails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2240280" cy="658368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63642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∞  iLink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6400800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BEBEBE"/>
                </a:solidFill>
                <a:latin typeface="Calibri"/>
              </a:rPr>
              <a:t>iLink Systems Inc. —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2880"/>
            <a:ext cx="11338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80000"/>
                </a:solidFill>
                <a:latin typeface="Calibri"/>
              </a:rPr>
              <a:t>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64008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F5F5F"/>
                </a:solidFill>
                <a:latin typeface="Calibri"/>
              </a:rPr>
              <a:t>Pragmatic path for Unifi’s confirmed KPI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024128"/>
            <a:ext cx="1124712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623560"/>
                <a:gridCol w="4800600"/>
              </a:tblGrid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anchor="ctr" marL="45720" marR="45720" marT="27432" marB="27432">
                    <a:solidFill>
                      <a:srgbClr val="B80000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Confirm Phase 1 ontology scope: Attrition and Contract Hierarchy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Avoid building on unapproved KPI assumptions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Finalize consolidated KPI view designs jointly with Unifi and iLink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Stable data contract for ontology and SQL generation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Load business terms, schema metadata, join paths, hierarchy, disambiguation rules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Foundational ontology ready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Build two KPI recipe examples and golden tests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Demonstrate end-to-end accuracy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Connect context builder, LLM generator, and SQL validator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Production-like NL2SQL execution pattern</a:t>
                      </a:r>
                    </a:p>
                  </a:txBody>
                  <a:tcPr anchor="ctr" marL="45720" marR="45720" marT="27432" marB="27432"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Govern future KPI expansion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Calibri"/>
                        </a:rPr>
                        <a:t>Repeatable path for remaining KPI domains</a:t>
                      </a:r>
                    </a:p>
                  </a:txBody>
                  <a:tcPr anchor="ctr" marL="45720" marR="45720" marT="27432" marB="2743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14400" y="5623560"/>
            <a:ext cx="10332720" cy="411480"/>
          </a:xfrm>
          <a:prstGeom prst="roundRect">
            <a:avLst/>
          </a:prstGeom>
          <a:solidFill>
            <a:srgbClr val="FFEFDB"/>
          </a:solidFill>
          <a:ln w="12700">
            <a:solidFill>
              <a:srgbClr val="B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742432"/>
            <a:ext cx="100584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80" b="1" i="0">
                <a:solidFill>
                  <a:srgbClr val="BF6600"/>
                </a:solidFill>
                <a:latin typeface="Calibri"/>
              </a:rPr>
              <a:t>Executive ask: approve the ontology-first approach and the Phase 1 confirmed KPI scope before production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